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034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8" y="1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2230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uwaiq.edu.sa/index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943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0BCD4"/>
                </a:solidFill>
              </a:rPr>
              <a:t>DEEP LEARNING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69168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Handwritten Digit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Recognition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9554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0A4AE"/>
                </a:solidFill>
              </a:rPr>
              <a:t>Using Convolutional Neural Networks (CNN)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3566160"/>
            <a:ext cx="2011680" cy="1097280"/>
          </a:xfrm>
          <a:prstGeom prst="rect">
            <a:avLst/>
          </a:prstGeom>
          <a:solidFill>
            <a:srgbClr val="13233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CD4"/>
                </a:solidFill>
              </a:rPr>
              <a:t>99.25%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Test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3566160"/>
            <a:ext cx="2011680" cy="1097280"/>
          </a:xfrm>
          <a:prstGeom prst="rect">
            <a:avLst/>
          </a:prstGeom>
          <a:solidFill>
            <a:srgbClr val="13233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CD4"/>
                </a:solidFill>
              </a:rPr>
              <a:t>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Digit Classes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566160"/>
            <a:ext cx="2011680" cy="1097280"/>
          </a:xfrm>
          <a:prstGeom prst="rect">
            <a:avLst/>
          </a:prstGeom>
          <a:solidFill>
            <a:srgbClr val="13233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CD4"/>
                </a:solidFill>
              </a:rPr>
              <a:t>50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Max Epochs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Python  •  TensorFlow / Keras  •  CNN Architecture</a:t>
            </a:r>
            <a:endParaRPr lang="en-US" sz="1000" dirty="0"/>
          </a:p>
        </p:txBody>
      </p:sp>
      <p:pic>
        <p:nvPicPr>
          <p:cNvPr id="18" name="صورة 17">
            <a:extLst>
              <a:ext uri="{FF2B5EF4-FFF2-40B4-BE49-F238E27FC236}">
                <a16:creationId xmlns:a16="http://schemas.microsoft.com/office/drawing/2014/main" id="{0723921F-A3A7-E73B-1CEB-30095004F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718220" y="246888"/>
            <a:ext cx="1210339" cy="846419"/>
          </a:xfrm>
          <a:prstGeom prst="rect">
            <a:avLst/>
          </a:prstGeom>
        </p:spPr>
      </p:pic>
      <p:sp>
        <p:nvSpPr>
          <p:cNvPr id="19" name="مربع نص 18">
            <a:extLst>
              <a:ext uri="{FF2B5EF4-FFF2-40B4-BE49-F238E27FC236}">
                <a16:creationId xmlns:a16="http://schemas.microsoft.com/office/drawing/2014/main" id="{8813508A-B962-A733-B356-A3D86EC90B1D}"/>
              </a:ext>
            </a:extLst>
          </p:cNvPr>
          <p:cNvSpPr txBox="1"/>
          <p:nvPr/>
        </p:nvSpPr>
        <p:spPr>
          <a:xfrm>
            <a:off x="1091418" y="2411431"/>
            <a:ext cx="6571861" cy="97184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algn="ctr">
              <a:buNone/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sz="2000" b="0" dirty="0">
                <a:solidFill>
                  <a:schemeClr val="bg2">
                    <a:lumMod val="50000"/>
                  </a:schemeClr>
                </a:solidFill>
              </a:rPr>
              <a:t>Made By: Hosam Abdullah </a:t>
            </a:r>
            <a:r>
              <a:rPr lang="en-US" sz="2000" b="0" dirty="0" err="1">
                <a:solidFill>
                  <a:schemeClr val="bg2">
                    <a:lumMod val="50000"/>
                  </a:schemeClr>
                </a:solidFill>
              </a:rPr>
              <a:t>Alturaysi</a:t>
            </a:r>
            <a:endParaRPr lang="en-US" sz="2000" b="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2000" b="0" dirty="0">
                <a:solidFill>
                  <a:schemeClr val="bg2">
                    <a:lumMod val="50000"/>
                  </a:schemeClr>
                </a:solidFill>
              </a:rPr>
              <a:t>Supervised By: Eng. Bader </a:t>
            </a:r>
            <a:r>
              <a:rPr lang="en-US" sz="2000" b="0" dirty="0" err="1">
                <a:solidFill>
                  <a:schemeClr val="bg2">
                    <a:lumMod val="50000"/>
                  </a:schemeClr>
                </a:solidFill>
              </a:rPr>
              <a:t>Albarraq</a:t>
            </a:r>
            <a:endParaRPr lang="ar-SA" sz="2000" b="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CD4"/>
                </a:solidFill>
              </a:rPr>
              <a:t>01  | 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Teaching Machines to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Read Human Handwriting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2057400"/>
            <a:ext cx="8138160" cy="804672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057400"/>
            <a:ext cx="64008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122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The Challenge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86584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Human handwriting is inherently messy — digits look different from person to person, pen to pen, angle to angle.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138160" cy="804672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64008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266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The Dataset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00984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MNIST benchmark: 70,000 grayscale 28×28 images of handwritten digits (0–9), split into 60K training and 10K test samples.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138160" cy="804672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64008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410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215384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Digit recognition powers postal automation, bank cheque processing, form digitisation, and touchscreen interfaces worldwide.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CD4"/>
                </a:solidFill>
              </a:rPr>
              <a:t>02  |  OUR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Robust CNN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4114800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44752"/>
            <a:ext cx="50292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5819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Smart Preprocessing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4767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Images reshaped to 28×28×1 and pixel values normalised to [0,1] for faster convergence.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44752"/>
            <a:ext cx="4114800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44752"/>
            <a:ext cx="50292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15819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Data Augmentation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94767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Random rotations, zooms, and translations applied on-the-fly to simulate real-world handwriting variation.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36392"/>
            <a:ext cx="4114800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36392"/>
            <a:ext cx="50292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2735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CNN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63931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Stacked Conv2D → MaxPool → Dropout layers learn spatial features, followed by Dense classification head.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136392"/>
            <a:ext cx="4114800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136392"/>
            <a:ext cx="50292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32735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Smart Callbacks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63931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EarlyStopping · ReduceLROnPlateau · ModelCheckpoint — training halts at optimal weights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CD4"/>
                </a:solidFill>
              </a:rPr>
              <a:t>03  | 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Exceptional Performance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1965960" cy="123444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3716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CD4"/>
                </a:solidFill>
              </a:rPr>
              <a:t>99.25%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19385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on unseen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280160"/>
            <a:ext cx="1965960" cy="123444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3716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CD4"/>
                </a:solidFill>
              </a:rPr>
              <a:t>99.26%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23160" y="19385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 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epoch 22/50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280160"/>
            <a:ext cx="1965960" cy="123444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3716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CD4"/>
                </a:solidFill>
              </a:rPr>
              <a:t>0.0297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17720" y="19385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 Loss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epoch 22/50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1280160"/>
            <a:ext cx="1965960" cy="123444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3716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CD4"/>
                </a:solidFill>
              </a:rPr>
              <a:t>98.54%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12280" y="19385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 Accuracy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no overfitting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5717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Training &amp; Validation Curves</a:t>
            </a:r>
            <a:endParaRPr lang="en-US" sz="12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53746"/>
            <a:ext cx="8595360" cy="20297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CD4"/>
                </a:solidFill>
              </a:rPr>
              <a:t>04  | 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Confusion Matrix — Where the Model Struggles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75488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12080" y="1234440"/>
            <a:ext cx="3611880" cy="566928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12080" y="1234440"/>
            <a:ext cx="64008" cy="5669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49240" y="1325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Digit '1' best classified: 931 correct, only 7 errors total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12080" y="1947672"/>
            <a:ext cx="3611880" cy="566928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12080" y="1947672"/>
            <a:ext cx="64008" cy="5669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0391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Digit '5' vs '3' most confused: 6 samples of '5' predicted as '3'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12080" y="2660904"/>
            <a:ext cx="3611880" cy="566928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12080" y="2660904"/>
            <a:ext cx="64008" cy="5669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49240" y="275234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Diagonal dominance confirms near-perfect per-class precision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12080" y="3374136"/>
            <a:ext cx="3611880" cy="566928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12080" y="3374136"/>
            <a:ext cx="64008" cy="56692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49240" y="346557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Digit '5' has the most off-diagonal errors (10 total)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4087368"/>
            <a:ext cx="3611880" cy="566928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4087368"/>
            <a:ext cx="64008" cy="56692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49240" y="41788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No class systematically confused with another — errors are sparse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5252"/>
                </a:solidFill>
              </a:rPr>
              <a:t>05a  |  HONEST LIMITATIONS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the Model Cannot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Reliably Do (Yet)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4160520" cy="1371600"/>
          </a:xfrm>
          <a:prstGeom prst="rect">
            <a:avLst/>
          </a:prstGeom>
          <a:solidFill>
            <a:srgbClr val="13233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74520"/>
            <a:ext cx="64008" cy="13716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965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Clean, Centred Digits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2860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MNIST images are small, greyscale, and centred. Real-world photos of handwritten digits (in natural light, on lined paper, in a word) will likely drop accuracy significantly.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874520"/>
            <a:ext cx="4160520" cy="1371600"/>
          </a:xfrm>
          <a:prstGeom prst="rect">
            <a:avLst/>
          </a:prstGeom>
          <a:solidFill>
            <a:srgbClr val="13233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874520"/>
            <a:ext cx="64008" cy="13716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965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Single Digit at a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22860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The model classifies isolated digits. Recognising a full number or equation requires a separate segmentation step not included here.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4160520" cy="1371600"/>
          </a:xfrm>
          <a:prstGeom prst="rect">
            <a:avLst/>
          </a:prstGeom>
          <a:solidFill>
            <a:srgbClr val="13233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429000"/>
            <a:ext cx="64008" cy="13716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5204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No Orientation Robustness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84048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Augmentation used ±10° rotations. Upside-down or steeply angled digits (e.g. handwriting slanted 45°) may still be misclassified.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3429000"/>
            <a:ext cx="4160520" cy="1371600"/>
          </a:xfrm>
          <a:prstGeom prst="rect">
            <a:avLst/>
          </a:prstGeom>
          <a:solidFill>
            <a:srgbClr val="13233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429000"/>
            <a:ext cx="64008" cy="13716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5204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Limited Language Generalisation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5192" y="384048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Trained solely on Western Arabic numerals. Non-Western numeral systems (Hindi, Arabic-Indic, etc.) are outside the model's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53"/>
                </a:solidFill>
              </a:rPr>
              <a:t>05b  | 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Where Do We Go From Here?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21792"/>
          </a:xfrm>
          <a:prstGeom prst="rect">
            <a:avLst/>
          </a:prstGeom>
          <a:solidFill>
            <a:srgbClr val="132338"/>
          </a:solidFill>
          <a:ln w="12700">
            <a:solidFill>
              <a:srgbClr val="0D33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62179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07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</a:rPr>
              <a:t>Deploy as a Web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14173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Wrap the model in a Flask / FastAPI backend with a canvas-based frontend so users can draw digits and see live predictions.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8412480" cy="621792"/>
          </a:xfrm>
          <a:prstGeom prst="rect">
            <a:avLst/>
          </a:prstGeom>
          <a:solidFill>
            <a:srgbClr val="132338"/>
          </a:solidFill>
          <a:ln w="12700">
            <a:solidFill>
              <a:srgbClr val="0D33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39112"/>
            <a:ext cx="64008" cy="62179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939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</a:rPr>
              <a:t>Extend to Full Numbers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1305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Add a segmentation pipeline (EAST or projection profiles) to detect and split multi-digit strings before feeding each digit to the CNN.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52344"/>
            <a:ext cx="8412480" cy="621792"/>
          </a:xfrm>
          <a:prstGeom prst="rect">
            <a:avLst/>
          </a:prstGeom>
          <a:solidFill>
            <a:srgbClr val="132338"/>
          </a:solidFill>
          <a:ln w="12700">
            <a:solidFill>
              <a:srgbClr val="0D33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52344"/>
            <a:ext cx="64008" cy="62179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07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</a:rPr>
              <a:t>Train on Richer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28437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Incorporate EMNIST, SVHN (Street View House Numbers), and crowd-sourced messy samples to improve real-world robustness.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8412480" cy="621792"/>
          </a:xfrm>
          <a:prstGeom prst="rect">
            <a:avLst/>
          </a:prstGeom>
          <a:solidFill>
            <a:srgbClr val="132338"/>
          </a:solidFill>
          <a:ln w="12700">
            <a:solidFill>
              <a:srgbClr val="0D33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65576"/>
            <a:ext cx="64008" cy="62179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20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</a:rPr>
              <a:t>Experiment with Architectures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35570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Test ResNet, EfficientNet, or Vision Transformers (ViT) to push accuracy further and benchmark against the current CNN baseline.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78808"/>
            <a:ext cx="8412480" cy="621792"/>
          </a:xfrm>
          <a:prstGeom prst="rect">
            <a:avLst/>
          </a:prstGeom>
          <a:solidFill>
            <a:srgbClr val="132338"/>
          </a:solidFill>
          <a:ln w="12700">
            <a:solidFill>
              <a:srgbClr val="0D33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78808"/>
            <a:ext cx="64008" cy="62179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336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</a:rPr>
              <a:t>Model Compression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0360" y="427024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Apply quantisation and pruning to produce a lightweight TFLite / ONNX model suitable for on-device mobile inference.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0BCD4"/>
                </a:solidFill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 99.25% Accurate CNN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for Handwritten Digit Recognition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CD4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0240" y="26517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Built and trained a CNN with data augmentation and smart callbacks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154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CD4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20240" y="31546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Achieved 99.25% test accuracy — competitive with published benchmarks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657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CD4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36576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Validated with confusion matrix showing sparse, interpretable errors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4160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CD4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4160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Identified clear limitations and a concrete roadmap for improvement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0A4AE"/>
                </a:solidFill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640</Words>
  <Application>Microsoft Office PowerPoint</Application>
  <PresentationFormat>عرض على الشاشة (16:9)</PresentationFormat>
  <Paragraphs>101</Paragraphs>
  <Slides>8</Slides>
  <Notes>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Handwritten Digit Recognition - CNN</dc:title>
  <dc:subject>PptxGenJS Presentation</dc:subject>
  <dc:creator>PptxGenJS</dc:creator>
  <cp:lastModifiedBy>حسام الطريسي</cp:lastModifiedBy>
  <cp:revision>2</cp:revision>
  <dcterms:created xsi:type="dcterms:W3CDTF">2026-06-07T18:03:13Z</dcterms:created>
  <dcterms:modified xsi:type="dcterms:W3CDTF">2026-06-07T18:27:34Z</dcterms:modified>
</cp:coreProperties>
</file>